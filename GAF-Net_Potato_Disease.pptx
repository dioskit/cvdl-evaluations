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0"/>
            <a:ext cx="73152" cy="5143500"/>
          </a:xfrm>
          <a:prstGeom prst="rect">
            <a:avLst/>
          </a:prstGeom>
          <a:solidFill>
            <a:srgbClr val="D67D3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PRECISION AGRICULTURE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GAF-Net for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Potato Leaf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Disease Detection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457200" cy="36576"/>
          </a:xfrm>
          <a:prstGeom prst="rect">
            <a:avLst/>
          </a:prstGeom>
          <a:solidFill>
            <a:srgbClr val="D67D3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3832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adaptation of Cao et al.'s YOLOv8-based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GAF-Net architecture, applied to a 3-class potato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classification problem.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Paper: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Cao, K. et al. (2025). GAF-Net: An Enhanced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Multidisease for Corn Leaves Detection Model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YOLOv8. IEEE TAFE, 3(2), 420-432.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52160" y="1691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98.27%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585216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32461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 · 405 test images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6.35M parameters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Potato Disease Detection?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agricultural problem that motivates this 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2560320" cy="73152"/>
          </a:xfrm>
          <a:prstGeom prst="rect">
            <a:avLst/>
          </a:prstGeom>
          <a:solidFill>
            <a:srgbClr val="D67D3E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0876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Critical Global Crop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2194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 is the world's fourth-largest food crop. Diseases like Early and Late Blight can wipe out entire harvests — Late Blight famously triggered the Irish Potato Famine of the 1840s.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34440"/>
            <a:ext cx="2560320" cy="73152"/>
          </a:xfrm>
          <a:prstGeom prst="rect">
            <a:avLst/>
          </a:prstGeom>
          <a:solidFill>
            <a:srgbClr val="D67D3E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1508760"/>
            <a:ext cx="640080" cy="640080"/>
          </a:xfrm>
          <a:prstGeom prst="ellipse">
            <a:avLst/>
          </a:prstGeom>
          <a:solidFill>
            <a:srgbClr val="D67D3E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2286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Inspection is Slow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2971800"/>
            <a:ext cx="2194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detection relies on farmer inspection — labour-intensive, subjective, and inconsistent. Symptoms of Early vs Late Blight overlap visually in early stages, making correct triage hard.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23444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234440"/>
            <a:ext cx="2560320" cy="73152"/>
          </a:xfrm>
          <a:prstGeom prst="rect">
            <a:avLst/>
          </a:prstGeom>
          <a:solidFill>
            <a:srgbClr val="D67D3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150876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00800" y="2286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 for Robust AI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2971800"/>
            <a:ext cx="2194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Single-disease classifiers fail on co-infected leaves. A model must handle multi-scale lesion features, varying leaf morphology, and complex backgrounds at edge-deployable cost.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GAF-Net for Potato Leaf Disease Detection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Original Paper: GAF-Net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 et al., IEEE Transactions on AgriFood Electronics, 2025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problem did the authors tackle?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four corn-leaf diseases under noisy field conditions: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corn leaf blight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damage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spot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Downy mildew</a:t>
            </a:r>
            <a:endParaRPr lang="en-US" sz="12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YOLOv8 with two key additions: </a:t>
            </a:r>
            <a:pPr indent="0" marL="0">
              <a:buNone/>
            </a:pPr>
            <a:r>
              <a:rPr lang="en-US" sz="1200" b="1" dirty="0">
                <a:solidFill>
                  <a:srgbClr val="D6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GSConv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Neck and an adaptive </a:t>
            </a:r>
            <a:pPr indent="0" marL="0">
              <a:buNone/>
            </a:pPr>
            <a:r>
              <a:rPr lang="en-US" sz="1200" b="1" dirty="0">
                <a:solidFill>
                  <a:srgbClr val="D6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FASFF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for multiscale feature fusion.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143000"/>
            <a:ext cx="3749040" cy="33832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Reported Results (Corn Dataset)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783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80.8%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212080" y="2423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  (+4.1% over baseline)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0" y="2788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52.6%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212080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mAP@50–95 (+3.3% over baseline)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0" y="3886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4.23M params · 15.1 GFLOPs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4114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Outperformed YOLOv5/7/9/10/11, RT-DETR,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R-CNN, CenterNet, Mamba-YOLO.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GAF-Net for Potato Leaf Disease Detection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Adaptation: From Corn to Potato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new domain — testing GAF-Net's generalisation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0" cy="4114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ORIGINAL PAPER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Crop: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 (maize)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(bounding boxes)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(blight, pest, brown spot, mildew)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1,219 images, custom-collected in Gansu, China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Annotation: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LabelMe → YOLO bounding boxes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mAP@50, mAP@50–95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88720"/>
            <a:ext cx="4114800" cy="411480"/>
          </a:xfrm>
          <a:prstGeom prst="rect">
            <a:avLst/>
          </a:prstGeom>
          <a:solidFill>
            <a:srgbClr val="D67D3E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IMPLEMENTATION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Crop: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(whole-leaf label)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(Early Blight, Late Blight, Healthy)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 — Potato Disease Leaf Dataset (Kaggle)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Annotation: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Class-folder labels (no boxes needed)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GAF-Net for Potato Leaf Disease Detection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Dataset: Potato Disease Leaf (PLD)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 · 4,072 images · 256×256 resolution · pre-split</a:t>
            </a:r>
            <a:endParaRPr lang="en-US" sz="1300" dirty="0"/>
          </a:p>
        </p:txBody>
      </p:sp>
      <p:pic>
        <p:nvPicPr>
          <p:cNvPr id="4" name="Image 0" descr="/home/claude/nb_images/cell6_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530352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1605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images per class (from training set)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852160" y="1143000"/>
            <a:ext cx="29260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89320" y="1234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Splits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600200"/>
          <a:ext cx="2651760" cy="100584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73152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989320" y="27432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Per-class distribution (train)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989320" y="30632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Blight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269480" y="3099816"/>
            <a:ext cx="914400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0" y="3063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1,303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989320" y="34290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Blight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269480" y="3465576"/>
            <a:ext cx="794398" cy="1645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1"/>
          <p:cNvSpPr/>
          <p:nvPr/>
        </p:nvSpPr>
        <p:spPr>
          <a:xfrm>
            <a:off x="8229600" y="3429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89320" y="3794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269480" y="3831336"/>
            <a:ext cx="572640" cy="16459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0" y="3794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816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6576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GAF-Net for Potato Leaf Disease Detection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GAF-Net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backbone + GSConv neck + FASFF fusion → classification head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1554480" cy="1463040"/>
          </a:xfrm>
          <a:prstGeom prst="rect">
            <a:avLst/>
          </a:prstGeom>
          <a:solidFill>
            <a:srgbClr val="4A5568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× 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rot="5400000">
            <a:off x="1975104" y="2075688"/>
            <a:ext cx="118872" cy="146304"/>
          </a:xfrm>
          <a:prstGeom prst="rtTriangle">
            <a:avLst/>
          </a:prstGeom>
          <a:solidFill>
            <a:srgbClr val="4A5568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1417320"/>
            <a:ext cx="1554480" cy="146304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Backbone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48840" y="20116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→ C2f ×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SPPF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3666744" y="2075688"/>
            <a:ext cx="118872" cy="146304"/>
          </a:xfrm>
          <a:prstGeom prst="rtTriangle">
            <a:avLst/>
          </a:prstGeom>
          <a:solidFill>
            <a:srgbClr val="4A5568"/>
          </a:solidFill>
          <a:ln/>
        </p:spPr>
      </p:sp>
      <p:sp>
        <p:nvSpPr>
          <p:cNvPr id="12" name="Shape 10"/>
          <p:cNvSpPr/>
          <p:nvPr/>
        </p:nvSpPr>
        <p:spPr>
          <a:xfrm>
            <a:off x="3794760" y="1417320"/>
            <a:ext cx="1554480" cy="1463040"/>
          </a:xfrm>
          <a:prstGeom prst="rect">
            <a:avLst/>
          </a:prstGeom>
          <a:solidFill>
            <a:srgbClr val="D67D3E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9476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Neck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20116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GSConv blocks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(slim, efficient)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358384" y="2075688"/>
            <a:ext cx="118872" cy="146304"/>
          </a:xfrm>
          <a:prstGeom prst="rtTriangle">
            <a:avLst/>
          </a:prstGeom>
          <a:solidFill>
            <a:srgbClr val="4A556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1417320"/>
            <a:ext cx="1554480" cy="146304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FASFF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2120" y="20116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multi-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fusion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rot="5400000">
            <a:off x="7050024" y="2075688"/>
            <a:ext cx="118872" cy="146304"/>
          </a:xfrm>
          <a:prstGeom prst="rtTriangle">
            <a:avLst/>
          </a:prstGeom>
          <a:solidFill>
            <a:srgbClr val="4A5568"/>
          </a:solidFill>
          <a:ln/>
        </p:spPr>
      </p:sp>
      <p:sp>
        <p:nvSpPr>
          <p:cNvPr id="20" name="Shape 18"/>
          <p:cNvSpPr/>
          <p:nvPr/>
        </p:nvSpPr>
        <p:spPr>
          <a:xfrm>
            <a:off x="7178040" y="1417320"/>
            <a:ext cx="1554480" cy="1463040"/>
          </a:xfrm>
          <a:prstGeom prst="rect">
            <a:avLst/>
          </a:prstGeom>
          <a:solidFill>
            <a:srgbClr val="52B788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7804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20116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+ FC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 classes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200400"/>
            <a:ext cx="8321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2918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key components inherited from the paper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6576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GSConv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combines standard + depthwise convolution with channel shuffle. Cuts cost while preserving feature richness; replaces vanilla convs in the neck.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7720" y="365760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FASFF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Feature-Adaptive Spatial Feature Fusion. Learns soft weights to merge feature maps from different scales, suppressing conflicting information.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GAF-Net for Potato Leaf Disease Detection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GSConv: Slim, Shuffled Convolution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conv + depthwise + channel shuffle = efficient fusion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Conv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produces half the output channels (rich features, but expensive)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6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Conv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produces the other half from the SC output (cheap, per-channel)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6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+ Shuffle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permutes channels so SC and DSC features mix; output looks much closer to a full SC than to plain depthwise.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3657600"/>
            <a:ext cx="4114800" cy="914400"/>
          </a:xfrm>
          <a:prstGeom prst="rect">
            <a:avLst/>
          </a:prstGeom>
          <a:solidFill>
            <a:srgbClr val="B7E4C7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657600"/>
            <a:ext cx="73152" cy="9144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7490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kept it: </a:t>
            </a:r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224×224 input, GSConv lets the neck process feature maps with depthwise efficiency without the accuracy collapse you'd see from naive lightweight convolution.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69164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4A5568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X  (c1)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23317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D67D3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Conv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X1 (c2/2)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23317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DWConv on X1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X2 (c2/2)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0" y="306324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52B788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3063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[X1, X2]   (c2)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361188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Shuffle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416052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(c2)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GAF-Net for Potato Leaf Disease Detection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FASFF: Adaptive Spatial Feature Fusion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network choose how much to trust each scale, per spatial location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73152" cy="12801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Align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feature maps F₁, F₂, F₃ from different scales are channel-aligned and bilinearly resized to a shared spatial size.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11887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18688" y="1188720"/>
            <a:ext cx="73152" cy="1280160"/>
          </a:xfrm>
          <a:prstGeom prst="rect">
            <a:avLst/>
          </a:prstGeom>
          <a:solidFill>
            <a:srgbClr val="D67D3E"/>
          </a:solidFill>
          <a:ln/>
        </p:spPr>
      </p:sp>
      <p:sp>
        <p:nvSpPr>
          <p:cNvPr id="10" name="Text 8"/>
          <p:cNvSpPr/>
          <p:nvPr/>
        </p:nvSpPr>
        <p:spPr>
          <a:xfrm>
            <a:off x="3447288" y="1280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7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Weight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47288" y="1691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1×1 conv produces a per-pixel score for each map; softmax across the 3 maps gives weights w₁ + w₂ + w₃ = 1 at every (i,j).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71616" y="11887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71616" y="1188720"/>
            <a:ext cx="73152" cy="12801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6300216" y="1280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Fuse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0216" y="16916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F_out = w₁·F₁ + w₂·F₂ + w₃·F₃. Weights are learned end-to-end, so noisy or conflicting features get down-weighted automatically.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841248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F_out (i,j)  =  w₁(i,j)·F₁  +  w₂(i,j)·F₂  +  w₃(i,j)·F₃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5760" y="3154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weighted sum — weights learned, not fixed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657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 for potato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Blight lesions are large irregular patches; Early Blight produces small concentric rings. A fixed-weight pyramid would favour one scale or the other. FASFF lets the model use the right scale per region — small features highlighted from shallow maps, broad lesions from deeper maps.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GAF-Net for Potato Leaf Disease Detection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Setup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GPU, 25 epochs, AdamW + cosine schedule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965960" cy="548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224 × 224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188720"/>
            <a:ext cx="196596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371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06040" y="1691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188720"/>
            <a:ext cx="196596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371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(MAX)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1691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675120" y="118872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1188720"/>
            <a:ext cx="196596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371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EARLY-STOP PATIENCE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12280" y="16916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65760" y="260604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606040"/>
            <a:ext cx="1965960" cy="548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AdamW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2468880" y="260604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68880" y="2606040"/>
            <a:ext cx="196596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06040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1e-3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4572000" y="260604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606040"/>
            <a:ext cx="196596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Cosine → 1e-6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675120" y="260604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2606040"/>
            <a:ext cx="196596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4" name="Text 32"/>
          <p:cNvSpPr/>
          <p:nvPr/>
        </p:nvSpPr>
        <p:spPr>
          <a:xfrm>
            <a:off x="6812280" y="2788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12280" y="31089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1e-4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Augmentations (training only)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&amp; vertical flip   ·   Random rotation ±15°   ·   Color jitter (brightness, contrast, saturation 0.2)   ·   ImageNet normalisation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GAF-Net for Potato Leaf Disease Detection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Behaviour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convergence — no overfitting</a:t>
            </a:r>
            <a:endParaRPr lang="en-US" sz="1300" dirty="0"/>
          </a:p>
        </p:txBody>
      </p:sp>
      <p:pic>
        <p:nvPicPr>
          <p:cNvPr id="4" name="Image 0" descr="/home/claude/nb_images/cell14_im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6217920" cy="2240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143000"/>
            <a:ext cx="2011680" cy="33832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3"/>
          <p:cNvSpPr/>
          <p:nvPr/>
        </p:nvSpPr>
        <p:spPr>
          <a:xfrm>
            <a:off x="6903720" y="1234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03720" y="1554480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tracks train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 — 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gap.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Plateaus near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18 around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val accuracy.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epoch 23,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val_loss = 0.0287.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35204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0.87 → 0.035   |   Val loss 0.73 → 0.029   |   Both curves close — no signs of overfitting on the held-out validation set.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GAF-Net for Potato Leaf Disease Detection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Set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405 images, never seen during training or validation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965960" cy="182880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6459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98.27%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1234440"/>
            <a:ext cx="1965960" cy="182880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6459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98.28%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6888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1965960" cy="1828800"/>
          </a:xfrm>
          <a:prstGeom prst="rect">
            <a:avLst/>
          </a:prstGeom>
          <a:solidFill>
            <a:srgbClr val="52B788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6459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98.27%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5120" y="1234440"/>
            <a:ext cx="1965960" cy="1828800"/>
          </a:xfrm>
          <a:prstGeom prst="rect">
            <a:avLst/>
          </a:prstGeom>
          <a:solidFill>
            <a:srgbClr val="D67D3E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6459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98.27%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675120" y="24688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3291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Per-class performance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5760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554480"/>
                <a:gridCol w="155448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Blight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Blight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6576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GAF-Net for Potato Leaf Disease Detection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7 misclassifications out of 405 test images fall</a:t>
            </a:r>
            <a:endParaRPr lang="en-US" sz="1300" dirty="0"/>
          </a:p>
        </p:txBody>
      </p:sp>
      <p:pic>
        <p:nvPicPr>
          <p:cNvPr id="4" name="Image 0" descr="/home/claude/nb_images/cell16_im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457200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2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matrix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212080" y="155448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102 Healthy leaves classified correctly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Blight: 158 / 162 correct — 2 confused with Late Blight, 2 with Healthy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Blight: 138 / 141 correct — 2 confused with Early Blight, 1 with Healthy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errors swap Early ↔ Late Blight — visually similar at early infection stages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212080" y="3931920"/>
            <a:ext cx="3657600" cy="594360"/>
          </a:xfrm>
          <a:prstGeom prst="rect">
            <a:avLst/>
          </a:prstGeom>
          <a:solidFill>
            <a:srgbClr val="D67D3E"/>
          </a:solidFill>
          <a:ln/>
        </p:spPr>
      </p:sp>
      <p:sp>
        <p:nvSpPr>
          <p:cNvPr id="8" name="Text 5"/>
          <p:cNvSpPr/>
          <p:nvPr/>
        </p:nvSpPr>
        <p:spPr>
          <a:xfrm>
            <a:off x="5349240" y="4023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out of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 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98.27% accuracy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576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GAF-Net for Potato Leaf Disease Detection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Predictions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random test-set images — green labels = correct, red = error</a:t>
            </a:r>
            <a:endParaRPr lang="en-US" sz="1300" dirty="0"/>
          </a:p>
        </p:txBody>
      </p:sp>
      <p:pic>
        <p:nvPicPr>
          <p:cNvPr id="4" name="Image 0" descr="/home/claude/nb_images/cell17_img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841248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samples shown were classified correctly. The model confidently distinguishes lesion patterns even on leaves with mixed lighting and varying backgrounds.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48646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GAF-Net for Potato Leaf Disease Detection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046720" y="486460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 &amp;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48640" cy="45720"/>
          </a:xfrm>
          <a:prstGeom prst="rect">
            <a:avLst/>
          </a:prstGeom>
          <a:solidFill>
            <a:srgbClr val="D67D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023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GAF-Net's GSConv + FASFF backbone, originally designed for object detection on corn, transfers cleanly to potato leaf classification.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98.27% test accuracy on a held-out set, with balanced precision and recall across all three classes.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6.35M-parameter model, trainable on a single GPU in under 25 epochs.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overfitting — validation curve stayed close to training across the run.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 go next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645920"/>
            <a:ext cx="4023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classification back to detection — re-attach the YOLOv8 head and add bounding-box labels to localise individual lesions.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class set: add additional potato disorders (e.g. blackleg, common scab) and field-collected co-infection cases.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evaluation: test on PlantVillage and field-captured images to stress-test generalisation.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deployment: prune + quantise for sub-4GB devices for in-field inference.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7E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·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GAF-Net for Potato Leaf Disease Detection</dc:title>
  <dc:subject>PptxGenJS Presentation</dc:subject>
  <dc:creator>GAF-Net Implementation Team</dc:creator>
  <cp:lastModifiedBy>GAF-Net Implementation Team</cp:lastModifiedBy>
  <cp:revision>1</cp:revision>
  <dcterms:created xsi:type="dcterms:W3CDTF">2026-05-01T04:39:44Z</dcterms:created>
  <dcterms:modified xsi:type="dcterms:W3CDTF">2026-05-01T04:39:44Z</dcterms:modified>
</cp:coreProperties>
</file>